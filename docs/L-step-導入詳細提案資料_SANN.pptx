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前回は全体構想をお話ししました。本日はプレミアムプランについて、費用の内訳と要件定義完了を前提とした導入スケジュールを具体的にお伝えします。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要件定義は前回までで完了しているため、本日は残り6週間で何をするかと140万円の内訳に焦点を当てます。売り込みではなく、導入後の見通しを固める場にしたいです。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説明会自動化はスタンダードでも実現できます。プレミアムは属性別シナリオの高度化、本格的な診断機能、分析改善の伴走まで含む構成です。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140万円のうち、外部連携30万円とクリエイティブ26万円が制作実務の中心です。シナリオ22万円・診断12万円・L-CAST5万円は、前回固めた要件をもとに構築します。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月額はツールのみ約5.3万円、運用サポート込みで約15.3万円です。初年度は初期140万円を含め約323万円が目安です。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初年度は初期費用が140万円のため投資額は大きくなりますが、診断・外部連携・クリエイティブまで一括で完成度を上げられます。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前回までで要件定義は完了しているため、本日から約6週間で運用開始まで進められます。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設計2週間は、前回の要件定義を実装可能な設計書に落とし込む期間です。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制作は集中的に2週間。Week 5はテスト、Week 6で本番切替です。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属性別シナリオにより、学部や志望度に応じた最適な教育・案内が自動で届きます。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プレミアムの分析・改善は、運用開始後も月次MTGで継続します。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要件定義は完了しているので、あとは6週間で形にする段階です。御社の採用カレンダーに合わせ、キックオフ時期をご一緒に決めさせてください。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B7280"/>
                </a:solidFill>
                <a:latin typeface="Hiragino Sans"/>
              </a:defRPr>
            </a:pPr>
            <a: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1A1A1A"/>
                </a:solidFill>
                <a:latin typeface="Hiragino Sans"/>
              </a:defRPr>
            </a:pPr>
            <a:r>
              <a:t>Lステップ導入詳細ご説明資料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6B7280"/>
                </a:solidFill>
                <a:latin typeface="Hiragino Sans"/>
              </a:defRPr>
            </a:pPr>
            <a:r>
              <a:t>プレミアムプラン導入に向けた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6B7280"/>
                </a:solidFill>
                <a:latin typeface="Hiragino Sans"/>
              </a:defRPr>
            </a:pPr>
            <a:r>
              <a:t>費用・設計スケジュールのご説明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Hiragino Sans"/>
              </a:defRPr>
            </a:pPr>
            <a:r>
              <a:t>株式会社SANN 御中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Hiragino Sans"/>
              </a:defRPr>
            </a:pPr>
            <a:r>
              <a:t>2026年5月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本日のご説明内容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導入費用の詳細確認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初期構築費（プレミアム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¥1,400,000）の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項目ごとの内訳をご説明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導入スケジュールの確認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8892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要件定義完了を前提に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設計・制作4週間＋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テスト・運用開始2週間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計6週間で進行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運用開始までの流れ確認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8892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御社側のご準備事項と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当社サポート範囲を整理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前回ご説明した全体構想を前提に、「導入後のイメージ」と「投資判断材料」を具体化します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プレミアムプランで実現できること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✓  応募者教育（自動配信シナリオ）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✓  説明会自動化（日程調整・リマインド）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✓  属性別シナリオ（学部・志望・ステータス別）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✓  診断機能（適性・興味の可視化）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✓  採用資産化（友だち・行動データの蓄積）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82880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554480"/>
                <a:gridCol w="155448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スタンダード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プレミアム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応募者教育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説明会自動化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属性別シナリオ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診断機能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分析・改善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C755"/>
                          </a:solidFill>
                          <a:latin typeface="Hiragino Sans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6C755"/>
                </a:solidFill>
                <a:latin typeface="Hiragino Sans"/>
              </a:defRPr>
            </a:pPr>
            <a:r>
              <a:t>プレミアム＝「採用の一時対応」ではなく「採用資産を積み上げる仕組み」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初期構築費の内訳（プレミアムプラン）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9235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760720"/>
                <a:gridCol w="1645920"/>
              </a:tblGrid>
              <a:tr h="3740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内容概要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金額（税別）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戦略設計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要件定義済み内容の反映・全体設計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¥100,000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シナリオ構築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教育・nurture・選考連携の構築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¥220,000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L-CAST構築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リッチメニュー・動画・フォーム基盤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¥50,000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診断機能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質問設計・分岐・結果ページの実装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¥120,000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外部連携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フォーム・CRM・スプレッドシート等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¥300,000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クリエイティブ作成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リッチメニュー・Lフレックス・診断素材等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¥260,000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タグ設計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属性・行動・ステータス管理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¥80,000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分析環境構築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GA4 / レポート環境の整備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¥120,000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テスト・調整・納品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動作確認・修正・運用引き継ぎ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¥150,000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C755"/>
                          </a:solidFill>
                          <a:latin typeface="Hiragino Sans"/>
                        </a:defRPr>
                      </a:pPr>
                      <a:r>
                        <a:t>¥1,400,000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※ お支払い：契約時50%（¥700,000）／運用開始時50%（¥700,000）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※ 要件定義は完了済みのため、戦略設計は反映・調整中心の工数です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月額費用の内訳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7772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228600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サービス内容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月額（税別）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公式LINE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公式アカウント・配信基盤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¥5,000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Lステップ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プレミアムプラン利用料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¥32,780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L-CAST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リッチメニュー・動画配信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¥14,960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運用保守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月次改善・障害対応・相談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¥100,000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月額合計（ツールのみ）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約 ¥52,740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  <a:r>
                        <a:t>月額合計（ツール＋運用保守）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Hiragino San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C755"/>
                          </a:solidFill>
                          <a:latin typeface="Hiragino Sans"/>
                        </a:defRPr>
                      </a:pPr>
                      <a:r>
                        <a:t>約 ¥152,740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595360" y="2011680"/>
            <a:ext cx="3017520" cy="2560320"/>
          </a:xfrm>
          <a:prstGeom prst="rect">
            <a:avLst/>
          </a:prstGeom>
          <a:solidFill>
            <a:srgbClr val="F8F9FA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219456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初年度イメージ（税別）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初期構築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06C755"/>
                </a:solidFill>
                <a:latin typeface="Hiragino Sans"/>
              </a:defRPr>
            </a:pPr>
            <a:r>
              <a:t>¥1,400,000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＋ 月額 × 12ヶ月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06C755"/>
                </a:solidFill>
                <a:latin typeface="Hiragino Sans"/>
              </a:defRPr>
            </a:pPr>
            <a:r>
              <a:t>＝ 約 ¥3,232,880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※ 運用保守は内製化後に縮小可能です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投資対効果の考え方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B7280"/>
                </a:solidFill>
                <a:latin typeface="Hiragino Sans"/>
              </a:defRPr>
            </a:pPr>
            <a:r>
              <a:t>採用エージェント経由　1名 ¥500,000〜¥1,000,000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84048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B7280"/>
                </a:solidFill>
                <a:latin typeface="Hiragino Sans"/>
              </a:defRPr>
            </a:pPr>
            <a:r>
              <a:t>LINE経由（プレミアム）初年度 約¥3,230,000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  <a:latin typeface="Hiragino Sans"/>
              </a:defRPr>
            </a:pPr>
            <a:r>
              <a:t>2年目以降 約¥1,830,000/年（初期費用なし）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① 採用単価の削減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　エージェント依存の低減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② 工数削減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　説明会・個別案内の自動化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③ 中長期の資産化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　友だち・行動・診断データの蓄積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損益分岐の目安：エージェント経由 3〜4名分の採用コスト削減で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初年度投資を回収可能（御社の採用規模により変動）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導入スケジュール（残り 約6週間）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solidFill>
            <a:srgbClr val="F8F9F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CA3AF"/>
                </a:solidFill>
                <a:latin typeface="Hiragino Sans"/>
              </a:defRPr>
            </a:pPr>
            <a:r>
              <a:t>✓  要件定義 … 完了（前回までに実施済み）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43200"/>
            <a:ext cx="2560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  <a:latin typeface="Hiragino Sans"/>
              </a:defRPr>
            </a:pPr>
            <a: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Phase 2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2926080"/>
            <a:ext cx="320040" cy="320040"/>
          </a:xfrm>
          <a:prstGeom prst="ellipse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2743200"/>
            <a:ext cx="2560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  <a:latin typeface="Hiragino Sans"/>
              </a:defRPr>
            </a:pPr>
            <a:r>
              <a:t>Week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制作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Phase 3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926080"/>
            <a:ext cx="320040" cy="320040"/>
          </a:xfrm>
          <a:prstGeom prst="ellipse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743200"/>
            <a:ext cx="2560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  <a:latin typeface="Hiragino Sans"/>
              </a:defRPr>
            </a:pPr>
            <a:r>
              <a:t>Week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テスト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Phase 4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2926080"/>
            <a:ext cx="320040" cy="320040"/>
          </a:xfrm>
          <a:prstGeom prst="ellipse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2743200"/>
            <a:ext cx="2560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  <a:latin typeface="Hiragino Sans"/>
              </a:defRPr>
            </a:pPr>
            <a: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運用開始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Hiragino Sans"/>
              </a:defRPr>
            </a:pPr>
            <a: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6C755"/>
                </a:solidFill>
                <a:latin typeface="Hiragino Sans"/>
              </a:defRPr>
            </a:pPr>
            <a:r>
              <a:t>6</a:t>
            </a:r>
          </a:p>
          <a:p>
            <a:pPr algn="ctr">
              <a:spcAft>
                <a:spcPts val="600"/>
              </a:spcAft>
              <a:defRPr sz="4800" b="1">
                <a:solidFill>
                  <a:srgbClr val="06C755"/>
                </a:solidFill>
                <a:latin typeface="Hiragino Sans"/>
              </a:defRPr>
            </a:pPr>
            <a:r>
              <a:t>週間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★ Week 2末：設計書承認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★ Week 4末：制作完了・受入テスト開始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★ Week 6：運用開始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1A1A1A"/>
                </a:solidFill>
                <a:latin typeface="Hiragino Sans"/>
              </a:defRPr>
            </a:pPr>
            <a:r>
              <a:t>※ 要件定義完了により、従来10週間想定を6週間に短縮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Phase 2｜設計（Week 1〜2）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9CA3AF"/>
                </a:solidFill>
                <a:latin typeface="Hiragino Sans"/>
              </a:defRPr>
            </a:pPr>
            <a:r>
              <a:t>前提：要件定義は完了済み。定義書をもとに設計・制作へ移行します。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【当社の作業】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・シナリオ設計書・画面遷移図の作成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・属性別シナリオ（分岐・タグ連動）の設計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・L-CAST設計（リッチメニュー・動画・フォーム）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・診断機能の質問・分岐・結果画面の設計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・外部連携（フォーム・CRM等）の接続設計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・分析設計（計測項目・レポート形式）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03120"/>
            <a:ext cx="539496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【御社のご準備】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・教育コンテンツ素材（動画・PDF等）の共有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・説明会日程・会場・定員情報の整理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・クリエイティブの方向性確認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・設計書へのフィードバック（48h以内推奨）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【成果物】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設計書一式（シナリオ/L-CAST/診断/連携/分析）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6C755"/>
                </a:solidFill>
                <a:latin typeface="Hiragino Sans"/>
              </a:defRPr>
            </a:pPr>
            <a:r>
              <a:t>★ Week 2末：設計書承認 → Week 3から制作開始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Phase 3〜5｜制作 〜 運用開始（Week 3〜6）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73152" cy="1234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Phase 3｜制作（Week 3〜4）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・シナリオ構築（教育・説明会・選考連携）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・L-CAST実装・診断機能の実装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・外部連携の設定・接続テスト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・クリエイティブ制作・組み込み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・タグ設計・分析環境の構築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★ Week 4末：制作完了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73152" cy="12344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Phase 4｜テスト（Week 5）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・結合テスト（登録→教育→説明会→選考）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・御社担当者による受入テスト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・修正・最終調整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・社内レクチャー（2時間）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663440"/>
            <a:ext cx="731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Phase 5｜運用開始（Week 6〜）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・本番環境への切替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・初回配信・説明会募集の開始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・運用マニュアル納品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・初月の伴走サポート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Hiragino Sans"/>
              </a:defRPr>
            </a:pPr>
            <a:r>
              <a:t>★ Week 6：運用開始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導入後の学生導線イメージ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Hiragino Sans"/>
              </a:defRPr>
            </a:pPr>
            <a:r>
              <a:t>SNS・HP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99" y="2697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C755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56032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697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Hiragino Sans"/>
              </a:defRPr>
            </a:pPr>
            <a:r>
              <a:t>LINE登録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697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C755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56032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697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Hiragino Sans"/>
              </a:defRPr>
            </a:pPr>
            <a:r>
              <a:t>自動教育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697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C755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256032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697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Hiragino Sans"/>
              </a:defRPr>
            </a:pPr>
            <a:r>
              <a:t>説明会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39" y="2697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C755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56032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697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Hiragino Sans"/>
              </a:defRPr>
            </a:pPr>
            <a:r>
              <a:t>選考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① 登録 … QR / SNS連携。学部・学年・志望をタグ取得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② 教育 … 属性別シナリオで3〜5日間のステップ配信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③ 説明会 … 希望日時選択、前日・当日リマインド自動送信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7280"/>
                </a:solidFill>
                <a:latin typeface="Hiragino Sans"/>
              </a:defRPr>
            </a:pPr>
            <a:r>
              <a:t>④ 選考 … 参加者へ個別案内、未参加者へ再ナーチャリング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6C755"/>
                </a:solidFill>
                <a:latin typeface="Hiragino Sans"/>
              </a:defRPr>
            </a:pPr>
            <a:r>
              <a:t>→ 全導線がLステップ上で可視化・改善可能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Hiragino Sans"/>
              </a:defRPr>
            </a:pPr>
            <a:r>
              <a:t>運用開始後のサポート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B7280"/>
                </a:solidFill>
                <a:latin typeface="Hiragino Sans"/>
              </a:defRPr>
            </a:pPr>
            <a:r>
              <a:t>月額運用保守 ¥100,000 に含まれる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月次改善MTG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配信結果の振り返り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改善施策の提案・実装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920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5740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231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データ分析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8036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開封率・遷移率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説明会参加率・選考移行率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920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205740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24231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配信・シナリオ改善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88036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A/Bテスト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シナリオ追加・修正（月2回まで）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19202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205740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C755"/>
                </a:solidFill>
                <a:latin typeface="Hiragin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4231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Hiragino Sans"/>
              </a:defRPr>
            </a:pPr>
            <a:r>
              <a:t>相談対応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288036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チャット・メール随時</a:t>
            </a:r>
          </a:p>
          <a:p>
            <a:pPr>
              <a:defRPr sz="1200">
                <a:solidFill>
                  <a:srgbClr val="6B7280"/>
                </a:solidFill>
                <a:latin typeface="Hiragino Sans"/>
              </a:defRPr>
            </a:pPr>
            <a:r>
              <a:t>障害の一次対応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6C755"/>
                </a:solidFill>
                <a:latin typeface="Hiragino Sans"/>
              </a:defRPr>
            </a:pPr>
            <a:r>
              <a:t>「作って終わり」ではなく、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06C755"/>
                </a:solidFill>
                <a:latin typeface="Hiragino Sans"/>
              </a:defRPr>
            </a:pPr>
            <a:r>
              <a:t>採用成果が出るまで伴走するパートナー契約です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B7280"/>
                </a:solidFill>
                <a:latin typeface="Hiragino Sans"/>
              </a:defRPr>
            </a:pPr>
            <a:r>
              <a:t>月額運用保守 ¥100,000 に含まれる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A1A1A"/>
                </a:solidFill>
                <a:latin typeface="Hiragino Sans"/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A1A1A"/>
                </a:solidFill>
                <a:latin typeface="Hiragino Sans"/>
              </a:defRPr>
            </a:pPr>
            <a:r>
              <a:t>本提案は「採用活動の効率化」ではなく、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1A1A1A"/>
                </a:solidFill>
                <a:latin typeface="Hiragino Sans"/>
              </a:defRPr>
            </a:pPr>
            <a:r>
              <a:t>「採用資産の構築」です。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6B7280"/>
                </a:solidFill>
                <a:latin typeface="Hiragino Sans"/>
              </a:defRPr>
            </a:pPr>
            <a:r>
              <a:t>初期構築 ¥1,400,000（税別）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6B7280"/>
                </a:solidFill>
                <a:latin typeface="Hiragino Sans"/>
              </a:defRPr>
            </a:pPr>
            <a:r>
              <a:t>設計・制作 4週間 ＋ テスト・運用開始 2週間 ＝ 約6週間で運用開始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次のステップ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① ご質問・ご懸念点の確認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② 導入開始時期のすり合わせ（例：今週キックオフ → 6週間後に運用開始）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③ 契約・制作着手日程の調整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1A1A1A"/>
                </a:solidFill>
                <a:latin typeface="Hiragino Sans"/>
              </a:defRPr>
            </a:pPr>
            <a:r>
              <a:t>担当：＿＿＿＿　／　お打ち合わせ調整：＿＿＿＿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Hiragino Sans"/>
              </a:defRPr>
            </a:pPr>
            <a:r>
              <a:t>株式会社SANN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Hiragino San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